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noFill/>
          <a:ln w="12700">
            <a:solidFill>
              <a:srgbClr val="2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515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40">
                <a:solidFill>
                  <a:srgbClr val="C0932E"/>
                </a:solidFill>
                <a:latin typeface="Calibri"/>
              </a:rPr>
              <a:t>B.TECH PROJECT REPORT  •  JANUARY –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Python CI/CD using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E7CF9A"/>
                </a:solidFill>
                <a:latin typeface="Georgia"/>
              </a:rPr>
              <a:t>Docker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3611880"/>
            <a:ext cx="1188720" cy="3810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9D2E0"/>
                </a:solidFill>
                <a:latin typeface="Calibri"/>
              </a:rPr>
              <a:t>A fully automated, containerised delivery pipeline for a Python microservices application, orchestrated across three isolated Amazon EC2 instances.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892040"/>
            <a:ext cx="5029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 spc="150">
                <a:solidFill>
                  <a:srgbClr val="8D9AB5"/>
                </a:solidFill>
                <a:latin typeface="Calibri"/>
              </a:rPr>
              <a:t>Submitted by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Priyanshu Kumar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150" b="0" i="0">
                <a:solidFill>
                  <a:srgbClr val="B8C2D8"/>
                </a:solidFill>
                <a:latin typeface="Calibri"/>
              </a:rPr>
              <a:t>Registration No. 12407370   •   Course Code: PETV137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 spc="150">
                <a:solidFill>
                  <a:srgbClr val="8D9AB5"/>
                </a:solidFill>
                <a:latin typeface="Calibri"/>
              </a:rPr>
              <a:t>Under the guidance of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E3E7EF"/>
                </a:solidFill>
                <a:latin typeface="Calibri"/>
              </a:rPr>
              <a:t>Ms. Priyanka Gupta  •  Prof. (Dr.) Harpreet Kaur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4892040"/>
            <a:ext cx="374903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100"/>
              </a:spcAft>
            </a:pPr>
            <a:r>
              <a:rPr sz="1200" b="1" i="0">
                <a:solidFill>
                  <a:srgbClr val="E3E7EF"/>
                </a:solidFill>
                <a:latin typeface="Calibri"/>
              </a:rPr>
              <a:t>School of Computer Science</a:t>
            </a:r>
          </a:p>
          <a:p>
            <a:pPr algn="r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E3E7EF"/>
                </a:solidFill>
                <a:latin typeface="Calibri"/>
              </a:rPr>
              <a:t>and Engineering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2D8"/>
                </a:solidFill>
                <a:latin typeface="Calibri"/>
              </a:rPr>
              <a:t>Lovely Professional University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8C2D8"/>
                </a:solidFill>
                <a:latin typeface="Calibri"/>
              </a:rPr>
              <a:t>Phagwara,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Georgia"/>
              </a:rPr>
              <a:t>What We’ll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A structured walkthrough from concept to a live, quality-gated deployment.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5227167" cy="1207008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522716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194560"/>
            <a:ext cx="8229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0932E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359152"/>
            <a:ext cx="403844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13D"/>
                </a:solidFill>
                <a:latin typeface="Calibri"/>
              </a:rPr>
              <a:t>Introduction &amp; Objective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Why a containerised CI/CD pipeline, and what problem it solves.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447" y="2240280"/>
            <a:ext cx="5227167" cy="1207008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8727" y="2194560"/>
            <a:ext cx="522716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9895" y="2194560"/>
            <a:ext cx="8229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0932E"/>
                </a:solidFill>
                <a:latin typeface="Georgi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847" y="2359152"/>
            <a:ext cx="403844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13D"/>
                </a:solidFill>
                <a:latin typeface="Calibri"/>
              </a:rPr>
              <a:t>System Architecture &amp; DFD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How code, quality checks and deployment commands flow across servers.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5227167" cy="1207008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566160"/>
            <a:ext cx="522716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566160"/>
            <a:ext cx="8229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0932E"/>
                </a:solidFill>
                <a:latin typeface="Georgia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730752"/>
            <a:ext cx="403844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13D"/>
                </a:solidFill>
                <a:latin typeface="Calibri"/>
              </a:rPr>
              <a:t>Implementation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Jenkins pipeline stages — build, static analysis, and SSH deployment.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24447" y="3611880"/>
            <a:ext cx="5227167" cy="1207008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8727" y="3566160"/>
            <a:ext cx="522716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895" y="3566160"/>
            <a:ext cx="8229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0932E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847" y="3730752"/>
            <a:ext cx="403844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13D"/>
                </a:solidFill>
                <a:latin typeface="Calibri"/>
              </a:rPr>
              <a:t>Testing &amp; Results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Live evidence from AWS, Jenkins, SonarQube and the deployed application.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83480"/>
            <a:ext cx="5227167" cy="1207008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937760"/>
            <a:ext cx="522716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937760"/>
            <a:ext cx="8229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0932E"/>
                </a:solidFill>
                <a:latin typeface="Georgia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02352"/>
            <a:ext cx="403844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13D"/>
                </a:solidFill>
                <a:latin typeface="Calibri"/>
              </a:rPr>
              <a:t>Key Highlights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What makes this pipeline reliable, secure and reproducible.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4447" y="4983480"/>
            <a:ext cx="5227167" cy="1207008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8727" y="4937760"/>
            <a:ext cx="5227167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9895" y="4937760"/>
            <a:ext cx="8229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C0932E"/>
                </a:solidFill>
                <a:latin typeface="Georgia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8847" y="5102352"/>
            <a:ext cx="4038447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50" b="1" i="0">
                <a:solidFill>
                  <a:srgbClr val="14213D"/>
                </a:solidFill>
                <a:latin typeface="Calibri"/>
              </a:rPr>
              <a:t>Conclusion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Outcomes achieved and the value delivered.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01 –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Georgia"/>
              </a:rPr>
              <a:t>Project 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6400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2272E"/>
                </a:solidFill>
                <a:latin typeface="Calibri"/>
              </a:rPr>
              <a:t>This project automates the delivery of a Python-based microservices application — a web front end and a rendering backend — using Jenkins and Docker.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2272E"/>
                </a:solidFill>
                <a:latin typeface="Calibri"/>
              </a:rPr>
              <a:t>The infrastructure is deliberately distributed across three isolated Amazon EC2 instances, so that build orchestration, code-quality analysis and production hosting never share the same failure domain.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2272E"/>
                </a:solidFill>
                <a:latin typeface="Calibri"/>
              </a:rPr>
              <a:t>Every commit is automatically built inside ephemeral Docker containers, analysed by SonarQube against a quality gate, and — once it passes — deployed to production over SSH with zero manual steps.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1206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2E6B4F"/>
                </a:solidFill>
                <a:latin typeface="Calibri"/>
              </a:rPr>
              <a:t>Result: consistent environments, enforced quality, and reproducible, low-risk releases.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828800"/>
            <a:ext cx="4007815" cy="1170432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0" y="1783080"/>
            <a:ext cx="4007815" cy="1170432"/>
          </a:xfrm>
          <a:prstGeom prst="rect">
            <a:avLst/>
          </a:prstGeom>
          <a:solidFill>
            <a:srgbClr val="14213D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892808"/>
            <a:ext cx="355061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7CF9A"/>
                </a:solidFill>
                <a:latin typeface="Georgia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C9D2E0"/>
                </a:solidFill>
                <a:latin typeface="Calibri"/>
              </a:rPr>
              <a:t>ISOLATED EC2 SERVERS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3145536"/>
            <a:ext cx="4007815" cy="1170432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0" y="3099816"/>
            <a:ext cx="4007815" cy="1170432"/>
          </a:xfrm>
          <a:prstGeom prst="rect">
            <a:avLst/>
          </a:prstGeom>
          <a:solidFill>
            <a:srgbClr val="14213D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3209544"/>
            <a:ext cx="355061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7CF9A"/>
                </a:solidFill>
                <a:latin typeface="Georgia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C9D2E0"/>
                </a:solidFill>
                <a:latin typeface="Calibri"/>
              </a:rPr>
              <a:t>AUTOMATED PIPELINE STAGES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4462272"/>
            <a:ext cx="4007815" cy="1170432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0" y="4416552"/>
            <a:ext cx="4007815" cy="1170432"/>
          </a:xfrm>
          <a:prstGeom prst="rect">
            <a:avLst/>
          </a:prstGeom>
          <a:solidFill>
            <a:srgbClr val="14213D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4112" y="4526280"/>
            <a:ext cx="355061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E7CF9A"/>
                </a:solidFill>
                <a:latin typeface="Georgia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 spc="60">
                <a:solidFill>
                  <a:srgbClr val="C9D2E0"/>
                </a:solidFill>
                <a:latin typeface="Calibri"/>
              </a:rPr>
              <a:t>MANUAL DEPLOYMENT STEPS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01 –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Georgia"/>
              </a:rPr>
              <a:t>Distributed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Three purpose-built EC2 instances keep build, analysis and hosting fully decoupled.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3362858" cy="324612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336285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3362858" cy="82296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55749" y="2468880"/>
            <a:ext cx="822960" cy="822960"/>
          </a:xfrm>
          <a:prstGeom prst="ellipse">
            <a:avLst/>
          </a:prstGeom>
          <a:solidFill>
            <a:srgbClr val="14213D"/>
          </a:solidFill>
          <a:ln w="15875">
            <a:solidFill>
              <a:srgbClr val="C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Jenkins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86200"/>
            <a:ext cx="281421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C78"/>
                </a:solidFill>
                <a:latin typeface="Calibri"/>
              </a:rPr>
              <a:t>Runs the declarative pipeline. Each stage spins up its own short-lived Docker agent — no shared global build environment.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0138" y="2240280"/>
            <a:ext cx="3362858" cy="324612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4418" y="2194560"/>
            <a:ext cx="336285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4418" y="2194560"/>
            <a:ext cx="3362858" cy="82296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84367" y="2468880"/>
            <a:ext cx="822960" cy="822960"/>
          </a:xfrm>
          <a:prstGeom prst="ellipse">
            <a:avLst/>
          </a:prstGeom>
          <a:solidFill>
            <a:srgbClr val="14213D"/>
          </a:solidFill>
          <a:ln w="15875">
            <a:solidFill>
              <a:srgbClr val="C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018" y="34290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SonarQube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8738" y="3886200"/>
            <a:ext cx="281421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C78"/>
                </a:solidFill>
                <a:latin typeface="Calibri"/>
              </a:rPr>
              <a:t>Performs static inspection of every commit — bugs, vulnerabilities and code smells are caught before they 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8756" y="2240280"/>
            <a:ext cx="3362858" cy="324612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3036" y="2194560"/>
            <a:ext cx="336285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3036" y="2194560"/>
            <a:ext cx="3362858" cy="82296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2985" y="2468880"/>
            <a:ext cx="822960" cy="822960"/>
          </a:xfrm>
          <a:prstGeom prst="ellipse">
            <a:avLst/>
          </a:prstGeom>
          <a:solidFill>
            <a:srgbClr val="14213D"/>
          </a:solidFill>
          <a:ln w="15875">
            <a:solidFill>
              <a:srgbClr val="C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71636" y="3429000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Calibri"/>
              </a:rPr>
              <a:t>Deployment Server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7356" y="3886200"/>
            <a:ext cx="2814218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C78"/>
                </a:solidFill>
                <a:latin typeface="Calibri"/>
              </a:rPr>
              <a:t>Hosts the production containers. Reached only via SSH from Jenkins after the quality gate has passed.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02 –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Georgia"/>
              </a:rPr>
              <a:t>Data Flow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How a single commit travels from a developer’s machine to a running container.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874519" cy="8686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611880"/>
            <a:ext cx="1874519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21608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3378" y="3657600"/>
            <a:ext cx="1874519" cy="8686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67658" y="3611880"/>
            <a:ext cx="1874519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7658" y="3721608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GitHub Repo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5237" y="3657600"/>
            <a:ext cx="1874519" cy="8686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49517" y="3611880"/>
            <a:ext cx="1874519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9517" y="3721608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Jenkins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77096" y="3657600"/>
            <a:ext cx="1874519" cy="8686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31376" y="3611880"/>
            <a:ext cx="1874519" cy="868680"/>
          </a:xfrm>
          <a:prstGeom prst="rect">
            <a:avLst/>
          </a:prstGeom>
          <a:solidFill>
            <a:srgbClr val="14213D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31376" y="3721608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Deployment Server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19" y="4046220.0"/>
            <a:ext cx="1107339.666666667" cy="0.0"/>
          </a:xfrm>
          <a:prstGeom prst="line">
            <a:avLst/>
          </a:prstGeom>
          <a:ln w="25400">
            <a:solidFill>
              <a:srgbClr val="C093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560319" y="3319272"/>
            <a:ext cx="1107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932E"/>
                </a:solidFill>
                <a:latin typeface="Calibri"/>
              </a:rPr>
              <a:t>Push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542177.666666667" y="4046220.0"/>
            <a:ext cx="1107339.666666667" cy="0.0"/>
          </a:xfrm>
          <a:prstGeom prst="line">
            <a:avLst/>
          </a:prstGeom>
          <a:ln w="25400">
            <a:solidFill>
              <a:srgbClr val="C093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42177" y="3319272"/>
            <a:ext cx="1107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932E"/>
                </a:solidFill>
                <a:latin typeface="Calibri"/>
              </a:rPr>
              <a:t>Webhook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524036.333333334" y="4046220.0"/>
            <a:ext cx="1107339.666666666" cy="0.0"/>
          </a:xfrm>
          <a:prstGeom prst="line">
            <a:avLst/>
          </a:prstGeom>
          <a:ln w="25400">
            <a:solidFill>
              <a:srgbClr val="C093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24036" y="3319272"/>
            <a:ext cx="11073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932E"/>
                </a:solidFill>
                <a:latin typeface="Calibri"/>
              </a:rPr>
              <a:t>Deploy (SSH)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0936" y="5486400"/>
            <a:ext cx="2103120" cy="77724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5216" y="5440680"/>
            <a:ext cx="2103120" cy="777240"/>
          </a:xfrm>
          <a:prstGeom prst="rect">
            <a:avLst/>
          </a:prstGeom>
          <a:solidFill>
            <a:srgbClr val="3D5373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5216" y="5532120"/>
            <a:ext cx="2103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SonarQube Server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586776.833333334" y="4480560"/>
            <a:ext cx="0.0" cy="960120"/>
          </a:xfrm>
          <a:prstGeom prst="line">
            <a:avLst/>
          </a:prstGeom>
          <a:ln w="25400">
            <a:solidFill>
              <a:srgbClr val="C093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96504" y="4736592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0932E"/>
                </a:solidFill>
                <a:latin typeface="Calibri"/>
              </a:rPr>
              <a:t>Analyse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C78"/>
                </a:solidFill>
                <a:latin typeface="Calibri"/>
              </a:rPr>
              <a:t>code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486400"/>
            <a:ext cx="2743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 spc="140">
                <a:solidFill>
                  <a:srgbClr val="C0932E"/>
                </a:solidFill>
                <a:latin typeface="Calibri"/>
              </a:rPr>
              <a:t>QUALITY GATE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26C78"/>
                </a:solidFill>
                <a:latin typeface="Calibri"/>
              </a:rPr>
              <a:t>Deployment proceeds only if SonarQube reports a passing quality gate on the analysed commit — otherwise the pipeline stops.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02 –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Georgia"/>
              </a:rPr>
              <a:t>Project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End-to-end topology: source control, orchestration, quality analysis and the containerised runtime.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10820095" cy="3977639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1082009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jec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35" y="2423160"/>
            <a:ext cx="8411623" cy="352043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03 –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Georgia"/>
              </a:rPr>
              <a:t>The Jenkins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A declarative pipeline with agent none — every stage runs inside its own disposable Docker container.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2464993" cy="33832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94560"/>
            <a:ext cx="2464993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2464993" cy="7315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7824" y="2450592"/>
            <a:ext cx="621792" cy="621792"/>
          </a:xfrm>
          <a:prstGeom prst="ellipse">
            <a:avLst/>
          </a:prstGeom>
          <a:solidFill>
            <a:srgbClr val="14213D"/>
          </a:solidFill>
          <a:ln w="15875">
            <a:solidFill>
              <a:srgbClr val="C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46120"/>
            <a:ext cx="202608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libri"/>
              </a:rPr>
              <a:t>Web: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" y="3675888"/>
            <a:ext cx="2026081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 spc="100">
                <a:solidFill>
                  <a:srgbClr val="FFFFFF"/>
                </a:solidFill>
                <a:latin typeface="Calibri"/>
              </a:rPr>
              <a:t>NODE:18-ALPINE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4133088"/>
            <a:ext cx="202608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Installs the frontend dependencies with npm ci inside a clean Node.js container.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9081.75" y="3886200.0"/>
            <a:ext cx="283464.0" cy="0.0"/>
          </a:xfrm>
          <a:prstGeom prst="line">
            <a:avLst/>
          </a:prstGeom>
          <a:ln w="25400">
            <a:solidFill>
              <a:srgbClr val="C093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16553" y="2240280"/>
            <a:ext cx="2464993" cy="33832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0833" y="2194560"/>
            <a:ext cx="2464993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0833" y="2194560"/>
            <a:ext cx="2464993" cy="7315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62857" y="2450592"/>
            <a:ext cx="621792" cy="621792"/>
          </a:xfrm>
          <a:prstGeom prst="ellipse">
            <a:avLst/>
          </a:prstGeom>
          <a:solidFill>
            <a:srgbClr val="14213D"/>
          </a:solidFill>
          <a:ln w="15875">
            <a:solidFill>
              <a:srgbClr val="C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0289" y="3246120"/>
            <a:ext cx="202608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libri"/>
              </a:rPr>
              <a:t>Renderer: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90289" y="3675888"/>
            <a:ext cx="2026081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 spc="100">
                <a:solidFill>
                  <a:srgbClr val="FFFFFF"/>
                </a:solidFill>
                <a:latin typeface="Calibri"/>
              </a:rPr>
              <a:t>PYTHON:3.11-SLIM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0289" y="4133088"/>
            <a:ext cx="202608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Installs backend requirements and syntax-checks auto_video.py &amp; renderer_api.py.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54115.5" y="3886200.0"/>
            <a:ext cx="283464.0" cy="0.0"/>
          </a:xfrm>
          <a:prstGeom prst="line">
            <a:avLst/>
          </a:prstGeom>
          <a:ln w="25400">
            <a:solidFill>
              <a:srgbClr val="C093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301587" y="2240280"/>
            <a:ext cx="2464993" cy="33832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5867" y="2194560"/>
            <a:ext cx="2464993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55867" y="2194560"/>
            <a:ext cx="2464993" cy="7315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7891" y="2450592"/>
            <a:ext cx="621792" cy="621792"/>
          </a:xfrm>
          <a:prstGeom prst="ellipse">
            <a:avLst/>
          </a:prstGeom>
          <a:solidFill>
            <a:srgbClr val="14213D"/>
          </a:solidFill>
          <a:ln w="15875">
            <a:solidFill>
              <a:srgbClr val="C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5323" y="3246120"/>
            <a:ext cx="202608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libri"/>
              </a:rPr>
              <a:t>SonarQube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75323" y="3675888"/>
            <a:ext cx="2026081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 spc="100">
                <a:solidFill>
                  <a:srgbClr val="FFFFFF"/>
                </a:solidFill>
                <a:latin typeface="Calibri"/>
              </a:rPr>
              <a:t>SONAR-SCANNER-CLI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5323" y="4133088"/>
            <a:ext cx="202608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Runs static analysis against web &amp; renderer sources and enforces the quality gate.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39149.25" y="3886200.0"/>
            <a:ext cx="283464.0" cy="0.0"/>
          </a:xfrm>
          <a:prstGeom prst="line">
            <a:avLst/>
          </a:prstGeom>
          <a:ln w="25400">
            <a:solidFill>
              <a:srgbClr val="C0932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9086621" y="2240280"/>
            <a:ext cx="2464993" cy="338328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40901" y="2194560"/>
            <a:ext cx="2464993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40901" y="2194560"/>
            <a:ext cx="2464993" cy="7315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2925" y="2450592"/>
            <a:ext cx="621792" cy="621792"/>
          </a:xfrm>
          <a:prstGeom prst="ellipse">
            <a:avLst/>
          </a:prstGeom>
          <a:solidFill>
            <a:srgbClr val="14213D"/>
          </a:solidFill>
          <a:ln w="15875">
            <a:solidFill>
              <a:srgbClr val="C093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0357" y="3246120"/>
            <a:ext cx="202608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Calibri"/>
              </a:rPr>
              <a:t>Deploy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60357" y="3675888"/>
            <a:ext cx="2026081" cy="310896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900" b="1" spc="100">
                <a:solidFill>
                  <a:srgbClr val="FFFFFF"/>
                </a:solidFill>
                <a:latin typeface="Calibri"/>
              </a:rPr>
              <a:t>MAIN BRANCH ONLY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0357" y="4133088"/>
            <a:ext cx="2026081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SSH into the deployment EC2, git pull, then docker compose up -d --build.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31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2B3A5C"/>
                </a:solidFill>
                <a:latin typeface="Georg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spc="260">
                <a:solidFill>
                  <a:srgbClr val="C0932E"/>
                </a:solidFill>
                <a:latin typeface="Calibri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Georgia"/>
              </a:rPr>
              <a:t>Testing &amp;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977639"/>
            <a:ext cx="822960" cy="3810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9D2E0"/>
                </a:solidFill>
                <a:latin typeface="Calibri"/>
              </a:rPr>
              <a:t>Live evidence captured directly from the running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04 –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Georgia"/>
              </a:rPr>
              <a:t>AWS EC2 Instances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Three isolated servers, each with a single responsibility, all healthy.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 spc="100">
                <a:solidFill>
                  <a:srgbClr val="2E6B4F"/>
                </a:solidFill>
                <a:latin typeface="Calibri"/>
              </a:rPr>
              <a:t>3 / 3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703320" cy="3428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manimax, jenkins and sonarqube instances all report Running with 3/3 status checks passed.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Provisioned in the eu-north-1 (Stockholm) region on c7i-flex.large instance types.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Separation of concerns: a failure or compromise on one server cannot cascade to the others.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240280"/>
            <a:ext cx="6751015" cy="3977639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194560"/>
            <a:ext cx="675101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19472" y="2359152"/>
            <a:ext cx="6531559" cy="3758183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aws_instances.png"/>
          <p:cNvPicPr>
            <a:picLocks noChangeAspect="1"/>
          </p:cNvPicPr>
          <p:nvPr/>
        </p:nvPicPr>
        <p:blipFill>
          <a:blip r:embed="rId2"/>
          <a:srcRect t="3969" b="3969"/>
          <a:stretch>
            <a:fillRect/>
          </a:stretch>
        </p:blipFill>
        <p:spPr>
          <a:xfrm>
            <a:off x="4864608" y="2304288"/>
            <a:ext cx="6531559" cy="375818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64608" y="2304288"/>
            <a:ext cx="6531559" cy="3758183"/>
          </a:xfrm>
          <a:prstGeom prst="rect">
            <a:avLst/>
          </a:prstGeom>
          <a:noFill/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04 –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Georgia"/>
              </a:rPr>
              <a:t>Jenkins Pipeline Execution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Every stage of the declarative pipeline completed cleanly.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 spc="100">
                <a:solidFill>
                  <a:srgbClr val="2E6B4F"/>
                </a:solidFill>
                <a:latin typeface="Calibri"/>
              </a:rPr>
              <a:t>BUILD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703320" cy="3428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The build ran through Web Install, Renderer Check, SonarQube and Deploy without intervention.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Ephemeral Docker agents mean each run starts from a clean, reproducible workspace.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Console output confirms cleanWs() ran and the pipeline reported Finished: SUCCESS.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240280"/>
            <a:ext cx="6751015" cy="3977639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194560"/>
            <a:ext cx="675101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19472" y="2359152"/>
            <a:ext cx="6531559" cy="3758183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jenkin_success.png"/>
          <p:cNvPicPr>
            <a:picLocks noChangeAspect="1"/>
          </p:cNvPicPr>
          <p:nvPr/>
        </p:nvPicPr>
        <p:blipFill>
          <a:blip r:embed="rId2"/>
          <a:srcRect t="3969" b="3969"/>
          <a:stretch>
            <a:fillRect/>
          </a:stretch>
        </p:blipFill>
        <p:spPr>
          <a:xfrm>
            <a:off x="4864608" y="2304288"/>
            <a:ext cx="6531559" cy="375818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64608" y="2304288"/>
            <a:ext cx="6531559" cy="3758183"/>
          </a:xfrm>
          <a:prstGeom prst="rect">
            <a:avLst/>
          </a:prstGeom>
          <a:noFill/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04 –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Georgia"/>
              </a:rPr>
              <a:t>SonarQube Quality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Static analysis enforced before a single line reaches production.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 spc="100">
                <a:solidFill>
                  <a:srgbClr val="2E6B4F"/>
                </a:solidFill>
                <a:latin typeface="Calibri"/>
              </a:rPr>
              <a:t>GATE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703320" cy="3428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2.4k lines of code analysed across the web and renderer modules.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Quality Gate: Passed — the mandatory checkpoint before the Deploy stage is allowed to run.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Security, reliability and maintainability metrics are tracked on every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240280"/>
            <a:ext cx="6751015" cy="3977639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194560"/>
            <a:ext cx="675101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19472" y="2359152"/>
            <a:ext cx="6531559" cy="3758183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onarqube_passed.png"/>
          <p:cNvPicPr>
            <a:picLocks noChangeAspect="1"/>
          </p:cNvPicPr>
          <p:nvPr/>
        </p:nvPicPr>
        <p:blipFill>
          <a:blip r:embed="rId2"/>
          <a:srcRect t="3969" b="3969"/>
          <a:stretch>
            <a:fillRect/>
          </a:stretch>
        </p:blipFill>
        <p:spPr>
          <a:xfrm>
            <a:off x="4864608" y="2304288"/>
            <a:ext cx="6531559" cy="375818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64608" y="2304288"/>
            <a:ext cx="6531559" cy="3758183"/>
          </a:xfrm>
          <a:prstGeom prst="rect">
            <a:avLst/>
          </a:prstGeom>
          <a:noFill/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04 – TESTING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Georgia"/>
              </a:rPr>
              <a:t>Application Deployed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200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626C78"/>
                </a:solidFill>
                <a:latin typeface="Calibri"/>
              </a:rPr>
              <a:t>The Dockerised application is live and serving traffic.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703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4EF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50" b="1" spc="100">
                <a:solidFill>
                  <a:srgbClr val="2E6B4F"/>
                </a:solidFill>
                <a:latin typeface="Calibri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703320" cy="3428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Containers were rebuilt and restarted on the deployment server via docker compose up -d --build.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The production UI (Manimax) is reachable and fully functional after the automated release.</a:t>
            </a:r>
          </a:p>
          <a:p>
            <a:pPr>
              <a:spcAft>
                <a:spcPts val="1400"/>
              </a:spcAft>
            </a:pPr>
            <a:r>
              <a:rPr sz="1250" b="1">
                <a:solidFill>
                  <a:srgbClr val="C0932E"/>
                </a:solidFill>
              </a:rPr>
              <a:t>▪  </a:t>
            </a:r>
            <a:r>
              <a:rPr sz="1250">
                <a:solidFill>
                  <a:srgbClr val="22272E"/>
                </a:solidFill>
                <a:latin typeface="Calibri"/>
              </a:rPr>
              <a:t>From git push to a live update — with zero manual deployment steps.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2240280"/>
            <a:ext cx="6751015" cy="3977639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194560"/>
            <a:ext cx="6751015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19472" y="2359152"/>
            <a:ext cx="6531559" cy="3758183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roject_deployed.png"/>
          <p:cNvPicPr>
            <a:picLocks noChangeAspect="1"/>
          </p:cNvPicPr>
          <p:nvPr/>
        </p:nvPicPr>
        <p:blipFill>
          <a:blip r:embed="rId2"/>
          <a:srcRect t="3969" b="3969"/>
          <a:stretch>
            <a:fillRect/>
          </a:stretch>
        </p:blipFill>
        <p:spPr>
          <a:xfrm>
            <a:off x="4864608" y="2304288"/>
            <a:ext cx="6531559" cy="375818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864608" y="2304288"/>
            <a:ext cx="6531559" cy="3758183"/>
          </a:xfrm>
          <a:prstGeom prst="rect">
            <a:avLst/>
          </a:prstGeom>
          <a:noFill/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30352"/>
            <a:ext cx="50292" cy="256032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05 – KEY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50392"/>
            <a:ext cx="108200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Georgia"/>
              </a:rPr>
              <a:t>What Makes This Pipeline Reliable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77240" cy="34925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362858" cy="196596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336285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64008" cy="196596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84248"/>
            <a:ext cx="290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Isolated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96312"/>
            <a:ext cx="28599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Jenkins, SonarQube and production run on three separate EC2 hosts — no shared blast radius.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0138" y="1828800"/>
            <a:ext cx="3362858" cy="196596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4418" y="1783080"/>
            <a:ext cx="336285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4418" y="1783080"/>
            <a:ext cx="64008" cy="196596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0450" y="1984248"/>
            <a:ext cx="290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Ephemeral Build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0450" y="2496312"/>
            <a:ext cx="28599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Every stage runs inside a fresh, purpose-built Docker container that is discarded afterwards.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8756" y="1828800"/>
            <a:ext cx="3362858" cy="196596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3036" y="1783080"/>
            <a:ext cx="336285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43036" y="1783080"/>
            <a:ext cx="64008" cy="196596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9068" y="1984248"/>
            <a:ext cx="290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Enforced Quality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9068" y="2496312"/>
            <a:ext cx="28599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SonarQube must pass before the Deploy stage is even reachable in the pipeline.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069080"/>
            <a:ext cx="3362858" cy="196596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23360"/>
            <a:ext cx="336285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023360"/>
            <a:ext cx="64008" cy="196596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4224528"/>
            <a:ext cx="290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Branch-Aware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4736592"/>
            <a:ext cx="28599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The Deploy stage runs only when the main branch changes, preventing accidental releases.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60138" y="4069080"/>
            <a:ext cx="3362858" cy="196596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4418" y="4023360"/>
            <a:ext cx="336285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14418" y="4023360"/>
            <a:ext cx="64008" cy="196596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0450" y="4224528"/>
            <a:ext cx="290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Secure SSH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0450" y="4736592"/>
            <a:ext cx="28599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Credentials are injected via Jenkins’ sshagent — no keys are stored in the pipeline code.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8756" y="4069080"/>
            <a:ext cx="3362858" cy="1965960"/>
          </a:xfrm>
          <a:prstGeom prst="rect">
            <a:avLst/>
          </a:prstGeom>
          <a:solidFill>
            <a:srgbClr val="DDD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43036" y="4023360"/>
            <a:ext cx="3362858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43036" y="4023360"/>
            <a:ext cx="64008" cy="196596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9068" y="4224528"/>
            <a:ext cx="290565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Zero Manual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9068" y="4736592"/>
            <a:ext cx="285993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26C78"/>
                </a:solidFill>
                <a:latin typeface="Calibri"/>
              </a:rPr>
              <a:t>git pull, image rebuild and container restart all happen automatically on every merge.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640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C0932E"/>
                </a:solidFill>
                <a:latin typeface="Calibri"/>
              </a:rPr>
              <a:t>06 –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Georgia"/>
              </a:rPr>
              <a:t>A Modern, Scalable Delivery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691640"/>
            <a:ext cx="777240" cy="3810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96926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500" b="1">
                <a:solidFill>
                  <a:srgbClr val="C0932E"/>
                </a:solidFill>
              </a:rPr>
              <a:t>▪  </a:t>
            </a:r>
            <a:r>
              <a:rPr sz="1500">
                <a:solidFill>
                  <a:srgbClr val="E3E7EF"/>
                </a:solidFill>
                <a:latin typeface="Calibri"/>
              </a:rPr>
              <a:t>Decoupling build, analysis and hosting across three EC2 instances delivers superior fault tolerance and security.</a:t>
            </a:r>
          </a:p>
          <a:p>
            <a:pPr>
              <a:spcAft>
                <a:spcPts val="1800"/>
              </a:spcAft>
            </a:pPr>
            <a:r>
              <a:rPr sz="1500" b="1">
                <a:solidFill>
                  <a:srgbClr val="C0932E"/>
                </a:solidFill>
              </a:rPr>
              <a:t>▪  </a:t>
            </a:r>
            <a:r>
              <a:rPr sz="1500">
                <a:solidFill>
                  <a:srgbClr val="E3E7EF"/>
                </a:solidFill>
                <a:latin typeface="Calibri"/>
              </a:rPr>
              <a:t>SonarQube guarantees a consistent code-quality bar on every single commit, not just at release time.</a:t>
            </a:r>
          </a:p>
          <a:p>
            <a:pPr>
              <a:spcAft>
                <a:spcPts val="1800"/>
              </a:spcAft>
            </a:pPr>
            <a:r>
              <a:rPr sz="1500" b="1">
                <a:solidFill>
                  <a:srgbClr val="C0932E"/>
                </a:solidFill>
              </a:rPr>
              <a:t>▪  </a:t>
            </a:r>
            <a:r>
              <a:rPr sz="1500">
                <a:solidFill>
                  <a:srgbClr val="E3E7EF"/>
                </a:solidFill>
                <a:latin typeface="Calibri"/>
              </a:rPr>
              <a:t>Jenkins automates the entire delivery path, cutting manual overhead and integration risk to near zero.</a:t>
            </a:r>
          </a:p>
          <a:p>
            <a:pPr>
              <a:spcAft>
                <a:spcPts val="1800"/>
              </a:spcAft>
            </a:pPr>
            <a:r>
              <a:rPr sz="1500" b="1">
                <a:solidFill>
                  <a:srgbClr val="C0932E"/>
                </a:solidFill>
              </a:rPr>
              <a:t>▪  </a:t>
            </a:r>
            <a:r>
              <a:rPr sz="1500">
                <a:solidFill>
                  <a:srgbClr val="E3E7EF"/>
                </a:solidFill>
                <a:latin typeface="Calibri"/>
              </a:rPr>
              <a:t>The result is a modern, reproducible CI/CD workflow — ready to scale as the application grows.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20095" cy="12700"/>
          </a:xfrm>
          <a:prstGeom prst="rect">
            <a:avLst/>
          </a:prstGeom>
          <a:solidFill>
            <a:srgbClr val="E1D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26C78"/>
                </a:solidFill>
                <a:latin typeface="Calibri"/>
              </a:rPr>
              <a:t>PYTHON CI/CD USING DOCKER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C7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517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3429000"/>
            <a:ext cx="1188720" cy="38100"/>
          </a:xfrm>
          <a:prstGeom prst="rect">
            <a:avLst/>
          </a:prstGeom>
          <a:solidFill>
            <a:srgbClr val="C09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57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E7CF9A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8C2D8"/>
                </a:solidFill>
                <a:latin typeface="Calibri"/>
              </a:rPr>
              <a:t>Priyanshu Kumar   •   12407370   •   Python CI/CD using Docker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